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c5415cd19a4d8e" /><Relationship Type="http://schemas.openxmlformats.org/officeDocument/2006/relationships/extended-properties" Target="/docProps/app.xml" Id="Rf1e14aed12954fa5" /><Relationship Type="http://schemas.openxmlformats.org/officeDocument/2006/relationships/officeDocument" Target="/ppt/presentation.xml" Id="R92f0148632a443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28afd43d704d4e"/>
  </p:sldMasterIdLst>
  <p:notesMasterIdLst>
    <p:notesMasterId xmlns:r="http://schemas.openxmlformats.org/officeDocument/2006/relationships" r:id="Rb8dfad769d684f6b"/>
  </p:notesMasterIdLst>
  <p:sldIdLst>
    <p:sldId xmlns:r="http://schemas.openxmlformats.org/officeDocument/2006/relationships" id="256" r:id="R79410a21c4ed43af"/>
    <p:sldId xmlns:r="http://schemas.openxmlformats.org/officeDocument/2006/relationships" id="257" r:id="R3c78444f666e473f"/>
    <p:sldId xmlns:r="http://schemas.openxmlformats.org/officeDocument/2006/relationships" id="258" r:id="R12cdaea63b344134"/>
    <p:sldId xmlns:r="http://schemas.openxmlformats.org/officeDocument/2006/relationships" id="259" r:id="R017368233b5745d5"/>
    <p:sldId xmlns:r="http://schemas.openxmlformats.org/officeDocument/2006/relationships" id="260" r:id="R674c34dc9598404f"/>
    <p:sldId xmlns:r="http://schemas.openxmlformats.org/officeDocument/2006/relationships" id="261" r:id="R1a08e731b1e74f21"/>
    <p:sldId xmlns:r="http://schemas.openxmlformats.org/officeDocument/2006/relationships" id="262" r:id="Rbe51f3f83c7d40da"/>
    <p:sldId xmlns:r="http://schemas.openxmlformats.org/officeDocument/2006/relationships" id="263" r:id="R6cdbd2485d174069"/>
    <p:sldId xmlns:r="http://schemas.openxmlformats.org/officeDocument/2006/relationships" id="264" r:id="R41bb4a3afe6444d3"/>
    <p:sldId xmlns:r="http://schemas.openxmlformats.org/officeDocument/2006/relationships" id="265" r:id="R84a153dd50b24d08"/>
    <p:sldId xmlns:r="http://schemas.openxmlformats.org/officeDocument/2006/relationships" id="266" r:id="Rf498dcaf81e74b58"/>
    <p:sldId xmlns:r="http://schemas.openxmlformats.org/officeDocument/2006/relationships" id="267" r:id="Rb5f11a52c2c64935"/>
    <p:sldId xmlns:r="http://schemas.openxmlformats.org/officeDocument/2006/relationships" id="268" r:id="R1e587a78646d4a40"/>
    <p:sldId xmlns:r="http://schemas.openxmlformats.org/officeDocument/2006/relationships" id="269" r:id="R3d5ffd12afea4797"/>
    <p:sldId xmlns:r="http://schemas.openxmlformats.org/officeDocument/2006/relationships" id="270" r:id="R680c906df2fb44c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8a9c0178ac4c62" /><Relationship Type="http://schemas.openxmlformats.org/officeDocument/2006/relationships/slideMaster" Target="/ppt/slideMasters/slideMaster1.xml" Id="Rad28afd43d704d4e" /><Relationship Type="http://schemas.openxmlformats.org/officeDocument/2006/relationships/notesMaster" Target="/ppt/notesMasters/notesMaster1.xml" Id="Rb8dfad769d684f6b" /><Relationship Type="http://schemas.openxmlformats.org/officeDocument/2006/relationships/presProps" Target="/ppt/presProps.xml" Id="R2da30a23a477429e" /><Relationship Type="http://schemas.openxmlformats.org/officeDocument/2006/relationships/tableStyles" Target="/ppt/tableStyles.xml" Id="Rbd82e66f410b4f47" /><Relationship Type="http://schemas.openxmlformats.org/officeDocument/2006/relationships/slide" Target="/ppt/slides/slide1.xml" Id="R79410a21c4ed43af" /><Relationship Type="http://schemas.openxmlformats.org/officeDocument/2006/relationships/slide" Target="/ppt/slides/slide2.xml" Id="R3c78444f666e473f" /><Relationship Type="http://schemas.openxmlformats.org/officeDocument/2006/relationships/slide" Target="/ppt/slides/slide3.xml" Id="R12cdaea63b344134" /><Relationship Type="http://schemas.openxmlformats.org/officeDocument/2006/relationships/slide" Target="/ppt/slides/slide4.xml" Id="R017368233b5745d5" /><Relationship Type="http://schemas.openxmlformats.org/officeDocument/2006/relationships/slide" Target="/ppt/slides/slide5.xml" Id="R674c34dc9598404f" /><Relationship Type="http://schemas.openxmlformats.org/officeDocument/2006/relationships/slide" Target="/ppt/slides/slide6.xml" Id="R1a08e731b1e74f21" /><Relationship Type="http://schemas.openxmlformats.org/officeDocument/2006/relationships/slide" Target="/ppt/slides/slide7.xml" Id="Rbe51f3f83c7d40da" /><Relationship Type="http://schemas.openxmlformats.org/officeDocument/2006/relationships/slide" Target="/ppt/slides/slide8.xml" Id="R6cdbd2485d174069" /><Relationship Type="http://schemas.openxmlformats.org/officeDocument/2006/relationships/slide" Target="/ppt/slides/slide9.xml" Id="R41bb4a3afe6444d3" /><Relationship Type="http://schemas.openxmlformats.org/officeDocument/2006/relationships/slide" Target="/ppt/slides/slide10.xml" Id="R84a153dd50b24d08" /><Relationship Type="http://schemas.openxmlformats.org/officeDocument/2006/relationships/slide" Target="/ppt/slides/slide11.xml" Id="Rf498dcaf81e74b58" /><Relationship Type="http://schemas.openxmlformats.org/officeDocument/2006/relationships/slide" Target="/ppt/slides/slide12.xml" Id="Rb5f11a52c2c64935" /><Relationship Type="http://schemas.openxmlformats.org/officeDocument/2006/relationships/slide" Target="/ppt/slides/slide13.xml" Id="R1e587a78646d4a40" /><Relationship Type="http://schemas.openxmlformats.org/officeDocument/2006/relationships/slide" Target="/ppt/slides/slide14.xml" Id="R3d5ffd12afea4797" /><Relationship Type="http://schemas.openxmlformats.org/officeDocument/2006/relationships/slide" Target="/ppt/slides/slide15.xml" Id="R680c906df2fb44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379ef53a1e4c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b939a181b64882" /><Relationship Type="http://schemas.openxmlformats.org/officeDocument/2006/relationships/notesMaster" Target="/ppt/notesMasters/notesMaster1.xml" Id="R5a0e5b7e75f445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05f69613564a4f" /><Relationship Type="http://schemas.openxmlformats.org/officeDocument/2006/relationships/notesMaster" Target="/ppt/notesMasters/notesMaster1.xml" Id="Rcb983693b75b4f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785462ca1d4eef" /><Relationship Type="http://schemas.openxmlformats.org/officeDocument/2006/relationships/notesMaster" Target="/ppt/notesMasters/notesMaster1.xml" Id="Re38d01ea358f4c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2958a9b84b4284" /><Relationship Type="http://schemas.openxmlformats.org/officeDocument/2006/relationships/notesMaster" Target="/ppt/notesMasters/notesMaster1.xml" Id="R6f0245fa095947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6bf400ccbc4157" /><Relationship Type="http://schemas.openxmlformats.org/officeDocument/2006/relationships/notesMaster" Target="/ppt/notesMasters/notesMaster1.xml" Id="Ra98de5290dda4e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4444a0d3bd4fcc" /><Relationship Type="http://schemas.openxmlformats.org/officeDocument/2006/relationships/notesMaster" Target="/ppt/notesMasters/notesMaster1.xml" Id="Rb3dedf3d2e9247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c45280416c483b" /><Relationship Type="http://schemas.openxmlformats.org/officeDocument/2006/relationships/notesMaster" Target="/ppt/notesMasters/notesMaster1.xml" Id="R8eb1769816054a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ad846b27d641c1" /><Relationship Type="http://schemas.openxmlformats.org/officeDocument/2006/relationships/notesMaster" Target="/ppt/notesMasters/notesMaster1.xml" Id="R69e9eaa565a942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790f3ea83b443b" /><Relationship Type="http://schemas.openxmlformats.org/officeDocument/2006/relationships/notesMaster" Target="/ppt/notesMasters/notesMaster1.xml" Id="R6a2af618333947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a86b3d965e4fbf" /><Relationship Type="http://schemas.openxmlformats.org/officeDocument/2006/relationships/notesMaster" Target="/ppt/notesMasters/notesMaster1.xml" Id="R6c0fd3d7c31746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e182b3c1ef4c0b" /><Relationship Type="http://schemas.openxmlformats.org/officeDocument/2006/relationships/notesMaster" Target="/ppt/notesMasters/notesMaster1.xml" Id="Rddaeacf4006b44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94dba8f0de49bd" /><Relationship Type="http://schemas.openxmlformats.org/officeDocument/2006/relationships/notesMaster" Target="/ppt/notesMasters/notesMaster1.xml" Id="Re74cc9b03c8340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ecf3bf5d894c2d" /><Relationship Type="http://schemas.openxmlformats.org/officeDocument/2006/relationships/notesMaster" Target="/ppt/notesMasters/notesMaster1.xml" Id="R3f46ed71013446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a32c8905ba48d7" /><Relationship Type="http://schemas.openxmlformats.org/officeDocument/2006/relationships/notesMaster" Target="/ppt/notesMasters/notesMaster1.xml" Id="R947e05cc32b947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b4e09404e54c07" /><Relationship Type="http://schemas.openxmlformats.org/officeDocument/2006/relationships/notesMaster" Target="/ppt/notesMasters/notesMaster1.xml" Id="Rf3a267246e3346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e7e8ad3104b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60ae29df934793" /><Relationship Type="http://schemas.openxmlformats.org/officeDocument/2006/relationships/slideLayout" Target="/ppt/slideLayouts/slideLayout1.xml" Id="R4c9fda165b5746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9fda165b5746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b9ce9f94e414e" /><Relationship Type="http://schemas.openxmlformats.org/officeDocument/2006/relationships/notesSlide" Target="/ppt/notesSlides/notesSlide1.xml" Id="Ra2fb1477732646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040b2b6f242b1" /><Relationship Type="http://schemas.openxmlformats.org/officeDocument/2006/relationships/notesSlide" Target="/ppt/notesSlides/notesSlide2.xml" Id="R8cb1773367b843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9a8aa726741e9" /><Relationship Type="http://schemas.openxmlformats.org/officeDocument/2006/relationships/notesSlide" Target="/ppt/notesSlides/notesSlide3.xml" Id="R539c3b91455048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f39eaa2d64609" /><Relationship Type="http://schemas.openxmlformats.org/officeDocument/2006/relationships/notesSlide" Target="/ppt/notesSlides/notesSlide4.xml" Id="R441483df2d874c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c7fd43dab485b" /><Relationship Type="http://schemas.openxmlformats.org/officeDocument/2006/relationships/notesSlide" Target="/ppt/notesSlides/notesSlide5.xml" Id="R43e2d538bcf54a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71c66269342be" /><Relationship Type="http://schemas.openxmlformats.org/officeDocument/2006/relationships/notesSlide" Target="/ppt/notesSlides/notesSlide6.xml" Id="R6534517443c24c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24382a79549ec" /><Relationship Type="http://schemas.openxmlformats.org/officeDocument/2006/relationships/chart" Target="/ppt/slides/charts/chart1.xml" Id="R3ce4cb64a4bd447e" /><Relationship Type="http://schemas.openxmlformats.org/officeDocument/2006/relationships/notesSlide" Target="/ppt/notesSlides/notesSlide7.xml" Id="R48e2fc264fd34c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b961f2c2f49ff" /><Relationship Type="http://schemas.openxmlformats.org/officeDocument/2006/relationships/chart" Target="/ppt/slides/charts/chart2.xml" Id="Rcaeaf96e7ffe4c13" /><Relationship Type="http://schemas.openxmlformats.org/officeDocument/2006/relationships/notesSlide" Target="/ppt/notesSlides/notesSlide8.xml" Id="Rc33d9ac6669645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2c006efb5422b" /><Relationship Type="http://schemas.openxmlformats.org/officeDocument/2006/relationships/chart" Target="/ppt/slides/charts/chart3.xml" Id="Rb2e6734f79364f9d" /><Relationship Type="http://schemas.openxmlformats.org/officeDocument/2006/relationships/notesSlide" Target="/ppt/notesSlides/notesSlide9.xml" Id="Rdf2d99ddf3b448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ec5061d1842be" /><Relationship Type="http://schemas.openxmlformats.org/officeDocument/2006/relationships/chart" Target="/ppt/slides/charts/chart4.xml" Id="R4ccf40e63aeb4d72" /><Relationship Type="http://schemas.openxmlformats.org/officeDocument/2006/relationships/notesSlide" Target="/ppt/notesSlides/notesSlide10.xml" Id="R2bfc71e5a90b43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0a672270848a1" /><Relationship Type="http://schemas.openxmlformats.org/officeDocument/2006/relationships/image" Target="/ppt/media/image.png" Id="Rb58065b9cce44c53" /><Relationship Type="http://schemas.openxmlformats.org/officeDocument/2006/relationships/notesSlide" Target="/ppt/notesSlides/notesSlide11.xml" Id="R31133b57da4945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7309869504cb4" /><Relationship Type="http://schemas.openxmlformats.org/officeDocument/2006/relationships/image" Target="/ppt/media/image2.png" Id="R62ae9bf4007d452a" /><Relationship Type="http://schemas.openxmlformats.org/officeDocument/2006/relationships/notesSlide" Target="/ppt/notesSlides/notesSlide12.xml" Id="R32ed165bcbb24a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6bf8c91d74b2b" /><Relationship Type="http://schemas.openxmlformats.org/officeDocument/2006/relationships/notesSlide" Target="/ppt/notesSlides/notesSlide13.xml" Id="Rebe9e0267c294d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a822ea82c4ba9" /><Relationship Type="http://schemas.openxmlformats.org/officeDocument/2006/relationships/image" Target="/ppt/media/image3.png" Id="R0c4434b73b5b424a" /><Relationship Type="http://schemas.openxmlformats.org/officeDocument/2006/relationships/notesSlide" Target="/ppt/notesSlides/notesSlide14.xml" Id="Rb8bc0a0709d94a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03a0afdcc4682" /><Relationship Type="http://schemas.openxmlformats.org/officeDocument/2006/relationships/notesSlide" Target="/ppt/notesSlides/notesSlide15.xml" Id="R8c9ba6959b844446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平均報酬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母單</c:v>
              </c:pt>
              <c:pt idx="1">
                <c:v>加碼單</c:v>
              </c:pt>
              <c:pt idx="2">
                <c:v>全部</c:v>
              </c:pt>
            </c:strLit>
          </c:cat>
          <c:val>
            <c:numLit>
              <c:formatCode>General</c:formatCode>
              <c:ptCount val="3"/>
              <c:pt idx="0">
                <c:v>38.53</c:v>
              </c:pt>
              <c:pt idx="1">
                <c:v>38.66</c:v>
              </c:pt>
              <c:pt idx="2">
                <c:v>38.56</c:v>
              </c:pt>
            </c:numLit>
          </c:val>
        </c:ser>
        <c:ser>
          <c:idx val="1"/>
          <c:order val="1"/>
          <c:tx>
            <c:v>勝率</c:v>
          </c:tx>
          <c:spPr>
            <a:solidFill xmlns:a="http://schemas.openxmlformats.org/drawingml/2006/main">
              <a:srgbClr val="1F2937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母單</c:v>
              </c:pt>
              <c:pt idx="1">
                <c:v>加碼單</c:v>
              </c:pt>
              <c:pt idx="2">
                <c:v>全部</c:v>
              </c:pt>
            </c:strLit>
          </c:cat>
          <c:val>
            <c:numLit>
              <c:formatCode>General</c:formatCode>
              <c:ptCount val="3"/>
              <c:pt idx="0">
                <c:v>37.99</c:v>
              </c:pt>
              <c:pt idx="1">
                <c:v>59.09</c:v>
              </c:pt>
              <c:pt idx="2">
                <c:v>43.67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平均報酬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直接進場</c:v>
              </c:pt>
              <c:pt idx="1">
                <c:v>折價 2% 進場</c:v>
              </c:pt>
            </c:strLit>
          </c:cat>
          <c:val>
            <c:numLit>
              <c:formatCode>General</c:formatCode>
              <c:ptCount val="2"/>
              <c:pt idx="0">
                <c:v>23.46</c:v>
              </c:pt>
              <c:pt idx="1">
                <c:v>31.97</c:v>
              </c:pt>
            </c:numLit>
          </c:val>
        </c:ser>
        <c:ser>
          <c:idx val="1"/>
          <c:order val="1"/>
          <c:tx>
            <c:v>勝率</c:v>
          </c:tx>
          <c:spPr>
            <a:solidFill xmlns:a="http://schemas.openxmlformats.org/drawingml/2006/main">
              <a:srgbClr val="1F2937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直接進場</c:v>
              </c:pt>
              <c:pt idx="1">
                <c:v>折價 2% 進場</c:v>
              </c:pt>
            </c:strLit>
          </c:cat>
          <c:val>
            <c:numLit>
              <c:formatCode>General</c:formatCode>
              <c:ptCount val="2"/>
              <c:pt idx="0">
                <c:v>33.33</c:v>
              </c:pt>
              <c:pt idx="1">
                <c:v>40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平均報酬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15D</c:v>
              </c:pt>
              <c:pt idx="1">
                <c:v>20D</c:v>
              </c:pt>
              <c:pt idx="2">
                <c:v>30D</c:v>
              </c:pt>
            </c:strLit>
          </c:cat>
          <c:val>
            <c:numLit>
              <c:formatCode>General</c:formatCode>
              <c:ptCount val="3"/>
              <c:pt idx="0">
                <c:v>29.87</c:v>
              </c:pt>
              <c:pt idx="1">
                <c:v>36.5</c:v>
              </c:pt>
              <c:pt idx="2">
                <c:v>38.56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平均報酬</c:v>
          </c:tx>
          <c:spPr>
            <a:solidFill xmlns:a="http://schemas.openxmlformats.org/drawingml/2006/main">
              <a:srgbClr val="1F2937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</c:strLit>
          </c:cat>
          <c:val>
            <c:numLit>
              <c:formatCode>General</c:formatCode>
              <c:ptCount val="5"/>
              <c:pt idx="0">
                <c:v>40.44</c:v>
              </c:pt>
              <c:pt idx="1">
                <c:v>17.69</c:v>
              </c:pt>
              <c:pt idx="2">
                <c:v>19.52</c:v>
              </c:pt>
              <c:pt idx="3">
                <c:v>36.5</c:v>
              </c:pt>
              <c:pt idx="4">
                <c:v>26.26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A207A8-8984-42A9-A4CD-CD4F6C6D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33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DC2AA-F807-4621-AE31-1063C658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28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MWP-C 策略投資分享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8216A-FCD9-4D93-AA57-9FF8DDC5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主升段回檔切入、低頻加碼、結構式風險控制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34885-7881-4C54-BFDD-200EB812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71550"/>
            <a:ext cx="4419600" cy="474345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0DA93-39DE-4FCF-897C-63297625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144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本次分享重點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5256E-964F-4BFF-8B10-C590C5B8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09750"/>
            <a:ext cx="36195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這套策略真正想解決什麼問題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母單來源、挑選、正式進場方式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加碼單如何出現，以及為何限量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停損、停利與結構轉弱的定義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不同實驗變因，為何最後選現在這版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84508-3568-4C26-942B-50524DD9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定位：投資分享版，先講策略精神與決策邏輯，再看績效與案例。</a:t>
            </a:r>
          </a:p>
        </p:txBody>
      </p:sp>
    </p:spTree>
    <p:extLst>
      <p:ext uri="{BB962C8B-B14F-4D97-AF65-F5344CB8AC3E}">
        <p14:creationId xmlns:p14="http://schemas.microsoft.com/office/powerpoint/2010/main" val="1181808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2A59BF-8D8B-49F3-8993-3874A82A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這套策略想解決什麼問題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6D373-F9D1-4BE3-9F54-1632B61F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EF50F-A6E9-4DC7-9677-C9D49CEC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Strategy intent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5BF7D-1812-4595-AA2A-71D0806A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不是去猜最低點，而是找強勢股回檔後，風險位置比較好的切入點。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不是追最熱的噴出，而是等待主升段中的健康整理結束。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真正想抓的是後續主波段，而不是訊號當天的短線反彈。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9359A-DBAD-48BE-982E-C6BD8AA2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2578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3A1C0-FA69-468C-B980-3967D797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5735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MWP-C 的三句話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322C6-8941-4436-87EA-49DD76FB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476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7AFD8-E81C-4313-BD61-8E7248C3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先確認趨勢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D7C21-0BEA-4F61-8CE0-06D6C557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20MA &gt; 60MA、收盤在 60MA 上方、60MA 仍在上揚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28539-9022-4DD8-A811-23CBF180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00400"/>
            <a:ext cx="4476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02864-D161-4C68-9D82-4287B455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只做健康回檔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D44DE-8425-4B74-9C75-0ABAD11E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38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回測 MA20 / MA10 後止穩，而不是長空弱反彈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7A64E-067F-432D-A2A4-FFB775CF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4476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93E5C-1459-48F1-B134-9546AA42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81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折價進場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DD796-51DD-4D52-B88C-85ADD245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訊號成立後，隔日開盤還要通過折價條件才進場</a:t>
            </a:r>
          </a:p>
        </p:txBody>
      </p:sp>
    </p:spTree>
    <p:extLst>
      <p:ext uri="{BB962C8B-B14F-4D97-AF65-F5344CB8AC3E}">
        <p14:creationId xmlns:p14="http://schemas.microsoft.com/office/powerpoint/2010/main" val="4936958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F6399F-D06B-4A5C-951C-5DACFE0B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什麼叫主升段中的回檔型態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C38D4-8507-4E5D-916B-6083CF83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DEDAD-EEF2-4862-ADC4-DDF4B9B0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Setups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98A5A-8464-45EA-B0F8-B900B1AA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3543300" cy="4476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E001D-2DB2-4770-9A49-F3C14AAF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趨勢背景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0B15B-8131-4B37-92D5-D3D52A16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27813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20MA &gt; 60MA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收盤價位於 60MA 之上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60MA 近 20 日斜率 &gt;= 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C0BDB-EE0C-4CE6-8AB0-8166DF00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2781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這代表策略先確認股票本來就在上升趨勢裡，才有資格進入下一步回檔觀察。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E4462-8CD3-47A0-ABE2-7C2484C1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14450"/>
            <a:ext cx="71247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510E6-359F-4B4C-8C10-731149F8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81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正式納入的回檔型態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7519A-6124-42BC-BABC-E83E159C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19300"/>
            <a:ext cx="63817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股價原本就處於主升段：20MA &gt; 60MA，收盤價位於 60MA 之上，且 60MA 近 20 個交易日斜率 &gt;= 3%。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近一段時間曾出現突破或轉強跡象，不是長期弱勢後的隨機反彈。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回檔型態一：回測 20MA 附近後守住，條件可寫成 low &lt;= 20MA x 1.03 且 close &gt;= 20MA x 0.98。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回檔型態二：前一天收盤跌到 20MA 下方，今天重新收回 20MA 之上。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回檔型態三：回測 10MA 後止穩，條件可寫成 low &lt;= 10MA x 1.02、close &gt;= 10MA、close &gt;= open，且最近 3 天形成新的短線回檔低點。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月線回檔型態還要搭配月線結構沒有剛發生明顯轉弱，避免把趨勢已壞掉的個股當成健康回檔。</a:t>
            </a:r>
          </a:p>
        </p:txBody>
      </p:sp>
    </p:spTree>
    <p:extLst>
      <p:ext uri="{BB962C8B-B14F-4D97-AF65-F5344CB8AC3E}">
        <p14:creationId xmlns:p14="http://schemas.microsoft.com/office/powerpoint/2010/main" val="1610028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B06037-28D1-4E2D-A0B5-3E6706F3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母單來源與正式進場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27380-2827-49A4-9D9C-0CEBEAB5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196EE-04B4-418D-80EC-93C889A2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Mother entry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B5704-A4BA-42B8-B875-309AC570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809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80AF5-15C1-44D8-B354-740A3F6D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15392-6FE0-4C42-B9CB-682BDD93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先出現主升段回檔訊號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66731-09BE-4C47-A298-F4890BD9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146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5285F-4F83-4B42-A2AE-C596A407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47900"/>
            <a:ext cx="1809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246C6-5A48-417B-87FC-E3B55864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0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BF2E1-B81B-4F5D-9E5B-DE9D34FC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MA20 5 日斜率 &gt;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1CAD2-0AF1-4F03-B58E-986E9FA8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C83A4-8C20-431E-B7B6-3E506AC3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47900"/>
            <a:ext cx="1809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91FF5-5C4F-4763-B7CE-EA021CAD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00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F5402-1FDB-40B1-B750-B8B76C31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622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同股沒有進行中的母單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07C6D-AABD-431D-BBBF-7CE8121F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146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62F5C-B4D9-4FF8-96EC-0C010A56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1809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83C56-ED75-4D58-B356-F9128902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0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42C4F-2FE8-419C-A35D-B82921C3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622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通過 10 個交易日排除期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27C61-2BE2-4DC3-93A2-EA36EE63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146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AAC73-4FFB-4CAE-AAA0-1F00E75B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47900"/>
            <a:ext cx="1809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DFB97-81E3-4ACC-8AEB-DF4A1057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00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41364E-9292-4DFB-B0D2-F9A3FB90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622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隔日開盤 &lt;= 訊號收盤 × 0.98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56CA60-4D5B-47AB-B657-92A41E44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763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母單不是看到訊號當天就買。正式制度是：訊號成立後，下一個交易日開盤才檢查是否符合折價條件。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17E5F-FE0F-49C2-9A51-8A7F42CE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這個 2% 折價門檻，核心目的是避免訊號漂亮、隔天卻開太高，讓風險報酬比立刻變差。</a:t>
            </a:r>
          </a:p>
        </p:txBody>
      </p:sp>
    </p:spTree>
    <p:extLst>
      <p:ext uri="{BB962C8B-B14F-4D97-AF65-F5344CB8AC3E}">
        <p14:creationId xmlns:p14="http://schemas.microsoft.com/office/powerpoint/2010/main" val="10447761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EBEAB8-6047-4FB6-8B6B-D54AE47B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加碼單不是第二個母單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D3E7D-9727-41B9-AA9C-B02C81B3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625F6-8D12-49F7-ADD8-DF9A8753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Add-on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325AA-FB32-4BCD-9BBC-04336B64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50482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E4824-FE54-4D13-B3F6-E215AB01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加碼的目的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B46D1-8874-4CA6-8BB6-87365326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438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母單先證明方向正確，加碼才有存在意義。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加碼是低頻放大，不是看到漲就一直追。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本質是順著已成立的主升段，再用一次回測機會擴張部位。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3D928-C9B2-4C47-8A6E-23EBF58E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390650"/>
            <a:ext cx="5619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4FB0A-0069-43E6-B167-2F785211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57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正式限制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E2DDE-4C8D-413E-A497-E0029F8B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574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加碼訊號只允許出現在母單仍持有期間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每個母單生命週期最多 1 筆加碼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必須回測 MA20 1.9% 範圍內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前 10 個交易日不能有同股買進或候選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B916B-E1C8-4139-A5FD-28177A72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29150"/>
            <a:ext cx="4800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因此，加碼單的設計不是擴大頻率，而是控制擴張節奏。</a:t>
            </a:r>
          </a:p>
        </p:txBody>
      </p:sp>
    </p:spTree>
    <p:extLst>
      <p:ext uri="{BB962C8B-B14F-4D97-AF65-F5344CB8AC3E}">
        <p14:creationId xmlns:p14="http://schemas.microsoft.com/office/powerpoint/2010/main" val="3790328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7135E2-F2EE-441B-B947-A6EDC282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出場邏輯：停損與結構式停利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8FECC-F4D8-44E4-845B-E556AF19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92129-54F7-4ED5-8B1B-0460F268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Risk &amp;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78997-4CEE-4A1D-B732-1515FB0E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5219700" cy="4438650"/>
          </a:xfrm>
          <a:prstGeom xmlns:a="http://schemas.openxmlformats.org/drawingml/2006/main" prst="roundRect">
            <a:avLst>
              <a:gd name="adj" fmla="val 25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ED89C-7DBE-4D63-9A0E-A9FD205E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90650"/>
            <a:ext cx="5448300" cy="4438650"/>
          </a:xfrm>
          <a:prstGeom xmlns:a="http://schemas.openxmlformats.org/drawingml/2006/main" prst="roundRect">
            <a:avLst>
              <a:gd name="adj" fmla="val 25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1AC13-959F-4CDE-AE17-AFFAA61A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母單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99EDC-324B-45D6-B44F-06F14340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476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進場後立即有 7% 硬停損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若隔日跳空低於停損價，則以開盤價出場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只有在盤中高點突破前一段 30 日整理區高點後，防守線才上移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收盤同時跌破 MA20 與最新 30 日整理低點，隔日開盤出場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08CB5-F91C-4C74-8E79-FC0AF59E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加碼單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81D05-009E-4684-A8F5-7A2EC5A1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46863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沿用固定結構低點，不跟 30 日整理低點一起上移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收盤跌破 MA20 與固定結構低點時出場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另保留 15% 收盤災難停損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只要母單先出場，所有加碼單同步關閉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5F5E4-D39F-4BB0-A4DA-3C6DEC55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67250"/>
            <a:ext cx="4724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正式版目前沒有獨立固定百分比停利。它的停利本質是：趨勢續抱，直到結構轉弱才退出。</a:t>
            </a:r>
          </a:p>
        </p:txBody>
      </p:sp>
    </p:spTree>
    <p:extLst>
      <p:ext uri="{BB962C8B-B14F-4D97-AF65-F5344CB8AC3E}">
        <p14:creationId xmlns:p14="http://schemas.microsoft.com/office/powerpoint/2010/main" val="6474296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79797D-343B-4A5B-8CCE-5172DA56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正式版目前成績總覽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AA896-2C47-4302-AD03-823A3BB9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67DAB-37C6-43F4-9558-A607030C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Official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E9A5F-5112-4ACD-BD74-D816B000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381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09C41-F70A-4DEE-846B-4D123FDA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總單位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D6DDE-DFDF-46ED-BC51-4F0D3F96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245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22987-F7F1-4393-A00F-2EE0A42A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未實現 106 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8898A-FE42-49C8-8B8C-5F714667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52550"/>
            <a:ext cx="2381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DAAD7-3C2E-45C3-8A85-F81DD128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24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勝率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2F618-0CB9-480F-B2B7-EF7E692F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90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4ED8"/>
                </a:solidFill>
              </a:defRPr>
            </a:pPr>
            <a:r>
              <a:rPr sz="2100" b="1">
                <a:solidFill>
                  <a:srgbClr val="1D4ED8"/>
                </a:solidFill>
              </a:rPr>
              <a:t>43.67%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6C16B-EB81-4B10-89FC-5C72E1CD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28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整體平均報酬 38.56%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2B706-E7C5-492F-ABE2-98014B0F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52550"/>
            <a:ext cx="2381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6EA06-0CD5-44D4-877B-9D46C4EA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24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總損益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DF7FC-3919-4012-B7D7-2519D86B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90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9,448,240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1469C-1C2C-4983-AF13-0D0BE315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28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全體單位資本報酬 38.56%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BF59D-4718-4CB1-9F40-01A8E25C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52550"/>
            <a:ext cx="33147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EDB7B-B5DD-41CB-999D-FACD4BF0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隨機股票拆分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56D5ED-0EBD-4119-B820-DF109389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90700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46.15%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42196-37E5-4BD4-B265-D369BB2A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p25 39.08%｜平均測試單位 48.9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AC3150-3755-4F78-AF20-907E305B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238750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765C2-A797-4E5E-98F2-AD4C8F8F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母單 / 加碼單比較</a:t>
            </a:r>
          </a:p>
        </p:txBody>
      </p:sp>
      <p:graphicFrame>
        <p:nvGraphicFramePr>
          <p:cNvPr id="47" name="Chart"/>
          <p:cNvGraphicFramePr/>
          <p:nvPr/>
        </p:nvGraphicFramePr>
        <p:xfrm>
          <a:off xmlns:a="http://schemas.openxmlformats.org/drawingml/2006/main" x="762000" y="3638550"/>
          <a:ext xmlns:a="http://schemas.openxmlformats.org/drawingml/2006/main" cx="48958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e4cb64a4bd447e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1601E1-E6D3-4BAA-A317-16AA91A4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5429250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56FC7-0048-4D5F-93B5-4C4960EA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該怎麼解讀這份績效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F569BF-7F19-4C95-8E6F-BCEB88DC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33800"/>
            <a:ext cx="4648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這套策略不是靠高勝率取勝，而是靠少數大波段拉開報酬分布。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因此中位數不一定漂亮，但平均值與總損益可能被趨勢延續大幅拉高。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加碼單雖然筆數較少，但在延續行情中能有效放大主波段收益。</a:t>
            </a:r>
          </a:p>
        </p:txBody>
      </p:sp>
    </p:spTree>
    <p:extLst>
      <p:ext uri="{BB962C8B-B14F-4D97-AF65-F5344CB8AC3E}">
        <p14:creationId xmlns:p14="http://schemas.microsoft.com/office/powerpoint/2010/main" val="54720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DD220B-9A98-4F32-8F21-55A4B192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實驗一：為什麼要要求隔日開盤折價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0348F-18FC-4B5C-B570-76FB0126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F63BA-4E04-45A2-8767-6BFBFDDF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Entry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DBC39-6DD8-41D4-B37B-3044C473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6134100" cy="4152900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857250" y="1771650"/>
          <a:ext xmlns:a="http://schemas.openxmlformats.org/drawingml/2006/main" cx="5619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eaf96e7ffe4c1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8A988-6595-44CC-869B-89BDAE8F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390650"/>
            <a:ext cx="4533900" cy="4152900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16C29-A155-4D4A-9286-76E0C6B1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76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結論怎麼看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8F67F-7D15-4B5A-B812-BD54C802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37338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折價條件會大幅減少訊號數量。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但它能改善平均品質與勝率。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本質是用『少做』換『做得更精準』。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這也是正式版堅持保留 2% 折價條件的原因。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831CE-C7D0-42C1-A72E-5AACBF7B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672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對外講法：MWP-C 不追價，寧願少做，也不願在風險位置變差時硬上。</a:t>
            </a:r>
          </a:p>
        </p:txBody>
      </p:sp>
    </p:spTree>
    <p:extLst>
      <p:ext uri="{BB962C8B-B14F-4D97-AF65-F5344CB8AC3E}">
        <p14:creationId xmlns:p14="http://schemas.microsoft.com/office/powerpoint/2010/main" val="2145398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E17EC1-6A7C-406C-8576-C7C0A57D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實驗二：防守線應該多快上移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BC6B0-04E2-4B4C-942B-356CF6DA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08B06-21FF-4FDE-B11C-4A18E2A2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Exit floor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7D5CC-D969-4AE2-90B8-2746120C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558165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81050" y="1752600"/>
          <a:ext xmlns:a="http://schemas.openxmlformats.org/drawingml/2006/main" cx="5219700" cy="3162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e6734f79364f9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DDB70-D62B-40D6-814E-0D7AC1C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15D = 15日整理低點｜20D = 20日整理低點｜30D = 30日整理低點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95D7D-5C5A-40C0-9B8D-4BFACD22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90650"/>
            <a:ext cx="51054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94333-714F-492F-8729-AB93D64F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764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正式版為何選 30 日整理低點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789E1-5A8D-497F-A48D-C0BB3718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14550"/>
            <a:ext cx="4267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15 日整理低點太緊，容易提早被洗掉。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20 日整理低點已比短線 pivot 穩定。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30 日整理低點在目前樣本下取得較平衡的報酬與續抱能力。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所以正式版把母單防守線升級成 30 日整理低點，但只套在母單。</a:t>
            </a:r>
          </a:p>
        </p:txBody>
      </p:sp>
    </p:spTree>
    <p:extLst>
      <p:ext uri="{BB962C8B-B14F-4D97-AF65-F5344CB8AC3E}">
        <p14:creationId xmlns:p14="http://schemas.microsoft.com/office/powerpoint/2010/main" val="5552291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0F2CCF-60A2-4EC0-8BBD-D807A3D3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實驗三：哪些保護獲利方式太緊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3AE4D-C40F-47CA-A6CB-B2D4CB18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237E7-6DD9-4C4E-8D27-DD1F180A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Too tight exits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039BC-DA04-4226-A252-6344606A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58293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800100" y="1752600"/>
          <a:ext xmlns:a="http://schemas.openxmlformats.org/drawingml/2006/main" cx="5448300" cy="3162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cf40e63aeb4d7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238EE-EACB-4E21-A3DA-234DC5A1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 固定結構低點｜B pivot 動態低點｜C 浮盈15%後 pivot｜D 20日整理低點｜E BBand 下軌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6341B-6157-4599-9DDF-8A3915F5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390650"/>
            <a:ext cx="485775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1E461-C225-4B34-9809-387115A9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764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這一頁要傳達的訊息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9AF34-68E9-4EF8-8E20-83093FF0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14550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太快上移的保護線，看起來很安全，但可能把主波段提前切斷。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pivot 動態低點與 BBand 下軌，都明顯比整理區低點更容易過早出場。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MWP-C 想抓的是主升段，不是短線價差，因此防守線不能設得太躁進。</a:t>
            </a:r>
          </a:p>
        </p:txBody>
      </p:sp>
    </p:spTree>
    <p:extLst>
      <p:ext uri="{BB962C8B-B14F-4D97-AF65-F5344CB8AC3E}">
        <p14:creationId xmlns:p14="http://schemas.microsoft.com/office/powerpoint/2010/main" val="18878498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28DFFA-2737-4AD5-B124-5875613B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案例一：母單進場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51E30-73BF-48A1-BF3D-83FE9C67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3B660-F2BA-477A-8332-F0363698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3037 欣興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4150D-8EF8-476A-9900-CA864374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CF21B-956C-4559-9999-777765B1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訊號日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08D1B-CDD0-464F-B3C9-0372AE5E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2025-11-18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11D6C-E154-4C46-88FF-B7EC8F14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正式進場不在同一天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0D431-8F49-4A44-B4C0-248B109B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9065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9A222-027D-4B77-997C-E0B46672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62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進場日 / 價格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6C301-45A5-444E-8CB3-E2C7C0EC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28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2025-11-19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315E4-7A74-461C-B8DA-6C9C6A10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@ 164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8B90F-19D2-439F-A8EB-79564D03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9065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27723-5146-4C07-87A3-B6C432DE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62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最新估值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740C4-8ADB-483A-B896-1985EA1E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28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2026-06-25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E8A69-5749-4A38-BDD4-AF5F8A54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@ 1020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C8D66-E84C-4D84-AB3F-BAEEAD1C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90650"/>
            <a:ext cx="33147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12FB1-B27B-41D9-8EC7-2903BD38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621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目前報酬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E9530-F785-4131-8192-2D5D78B7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28800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521.95%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0203A-D1A1-4E6F-A283-FFE1638A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持有 141 個交易日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DE3B73-EF04-43B6-8FD8-7205A17A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7239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6AE1CA-CAE2-4EA0-9E8D-1AC07283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3037 欣興：主升段回檔後的母單切入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065b9cce44c53"/>
          <a:stretch xmlns:a="http://schemas.openxmlformats.org/drawingml/2006/main"/>
        </p:blipFill>
        <p:spPr>
          <a:xfrm xmlns:a="http://schemas.openxmlformats.org/drawingml/2006/main">
            <a:off x="1355271" y="3448050"/>
            <a:ext cx="5747657" cy="25146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9CEB7-226A-413E-B06C-979A35C4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34480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D00926-3FC2-480F-9C48-06DC1E8F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95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案例重點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7871E0-7265-4064-AA35-AA8ECD9A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2724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訊號日先出現回檔買點。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隔日開盤再檢查是否符合折價條件。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正式版要抓的是主波段，而不是當天反彈。</a:t>
            </a:r>
          </a:p>
        </p:txBody>
      </p:sp>
    </p:spTree>
    <p:extLst>
      <p:ext uri="{BB962C8B-B14F-4D97-AF65-F5344CB8AC3E}">
        <p14:creationId xmlns:p14="http://schemas.microsoft.com/office/powerpoint/2010/main" val="2178738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F3B01C-E05C-48D6-9810-83068110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案例二：加碼單進場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A4B4E-1AAA-4562-802C-8EA8C323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9EBC5-75B7-4BB7-B8CE-E005F8D5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3037 欣興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28976-DADF-4AA3-9C40-A7312AC8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6EF04-6E95-4011-A4EF-C4EF178C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母單仍在手上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D8291-338F-4640-BF58-F204978E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4ED8"/>
                </a:solidFill>
              </a:defRPr>
            </a:pPr>
            <a:r>
              <a:rPr sz="2100" b="1">
                <a:solidFill>
                  <a:srgbClr val="1D4ED8"/>
                </a:solidFill>
              </a:rPr>
              <a:t>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89CD3-63A7-4CD6-912E-1F18383A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加碼不會獨立存在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1A57A-9582-47B1-8A9A-7F05A989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9065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D11F3-286F-4B68-8A05-E8DEA753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62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加碼進場日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AAAD6-CD69-497C-8377-276C3ADD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28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2025-12-31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F91A8-94DC-4ACF-B503-3F5B43C0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@ 220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48FB5-02F8-4119-AC7E-FA3E18BD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9065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5AA13-DD69-4DBA-8055-763CB7D9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62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最新估值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11CB9-4CC6-45F8-886A-A63D7377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28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2026-06-25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3CC70-E5A6-40C4-857D-64DA4C09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@ 1020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27510A-9689-473A-8B5E-2E8DC5D8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90650"/>
            <a:ext cx="33147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FAE88-4C19-44FD-A1B6-891D4A3D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621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目前報酬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445F1-E19E-4AD7-A09F-027DD5EB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28800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363.64%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5D1F0D-1E42-45BA-9AE9-356E1A8B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持有 112 個交易日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FBA06-FF6B-4C6A-B91A-5F251585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7239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7521C5-1276-4A86-8CD8-A704CC51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3037 欣興：趨勢延續後的低頻加碼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e9bf4007d452a"/>
          <a:stretch xmlns:a="http://schemas.openxmlformats.org/drawingml/2006/main"/>
        </p:blipFill>
        <p:spPr>
          <a:xfrm xmlns:a="http://schemas.openxmlformats.org/drawingml/2006/main">
            <a:off x="1355271" y="3448050"/>
            <a:ext cx="5747657" cy="25146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0DBCDB-E63A-41FA-8B9C-62910F57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34480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EC096B-2A1F-4948-BED5-D689354A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95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案例重點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7C23B6-F6D3-4DE9-A492-F939A1D8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27241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加碼不是追高，而是母單已成立後的第二次切入。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每個母單生命週期最多只允許 1 筆加碼。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這讓加碼變成保守擴張，而不是無限制放大槓桿。</a:t>
            </a:r>
          </a:p>
        </p:txBody>
      </p:sp>
    </p:spTree>
    <p:extLst>
      <p:ext uri="{BB962C8B-B14F-4D97-AF65-F5344CB8AC3E}">
        <p14:creationId xmlns:p14="http://schemas.microsoft.com/office/powerpoint/2010/main" val="4718593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DED43E-A6F5-47FA-9399-A658BE56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案例三：停損如何工作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AD344-E5B1-4E1A-887E-148EC77E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F2194-2CE5-40B5-AA28-BFE77818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4977 眾達-KY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91AFE-44FD-447A-A0F6-1198B254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53340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F4D1F-5D17-4DC4-B5F2-0140FE01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母單硬停損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7B01B-83AF-4C0D-8753-89E803FF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訊號日：2026-03-30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進場：2026-03-31 @ 184.5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出場：2026-06-11 @ 171.585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報酬：-7.00%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出場原因：母單 7% 硬停損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CBACF-FFCC-49A8-B51D-9ECC2777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4457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這類案例代表：不是每一個回檔都會成功。當判斷錯誤時，策略優先確保損失可控。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EF9C7-04C5-4AF0-A60E-233984BD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90650"/>
            <a:ext cx="53340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C9071-D2A0-4E42-B79F-BAE16CC6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57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加碼災難停損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1BA96-8455-4F31-BD93-583DDBE5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進場：2026-04-30 @ 214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出場：2026-06-09 @ 183.5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報酬：-14.25%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出場原因：加碼單 15% 收盤災難停損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90C8B-0627-4A3C-9D11-9D71200A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4457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加碼單雖然是順勢擴張，但風險並不比母單低，因此仍要保留最後一道保命機制。</a:t>
            </a:r>
          </a:p>
        </p:txBody>
      </p:sp>
    </p:spTree>
    <p:extLst>
      <p:ext uri="{BB962C8B-B14F-4D97-AF65-F5344CB8AC3E}">
        <p14:creationId xmlns:p14="http://schemas.microsoft.com/office/powerpoint/2010/main" val="8937943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86A413-129C-4F2D-A5E3-4B5FF204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案例四：結構式停利 / 轉弱出場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B3888-0F8E-4068-B740-2973C7AC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F1C02-58A9-4802-A3A1-F1415054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5340 建榮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5A6AF-FDD2-47A3-A051-0B29E0EF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56058-39A8-4DFD-A9F9-810115EC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訊號日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DB195-744D-4506-978C-E8CC84C6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2025-12-12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96AAC-9573-4786-BFE7-F59AFB29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主升段回檔訊號成立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BDB66-28D8-4A9C-9CA2-90935544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9065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03D2D-25F9-428F-A254-FF6BA91C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62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進場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4EC3D-324B-41DC-BCF1-5D82F45E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28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2025-12-15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A6047-81F3-45A2-8EC1-C03E2A25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@ 63.2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89499-3FEA-4F9D-B591-703D19F4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9065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7DBCD-3F00-44CD-85EF-3F9BB34D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62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出場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B8FFF-B5CC-4884-8C36-23E28EC7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28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2026-06-08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68D58-8C1F-4A24-B2FE-EA1BCEAA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@ 85.6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24C3E0-01FB-4875-AA93-87FB35E0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90650"/>
            <a:ext cx="33147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AE155-E407-4F20-9A6F-A93350C2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621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最終報酬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3BC1D-C6A3-4296-A388-9FBD2D7D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28800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35.44%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4B96CF-0AB7-4315-B72C-EAC0C52E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結構轉弱後隔日開盤出場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3EF77D-CDCB-4765-9662-B51744E0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7239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DDF9B-4545-478A-80EE-76A9F97A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5340 建榮：不是固定目標價停利，而是等結構轉弱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434b73b5b424a"/>
          <a:stretch xmlns:a="http://schemas.openxmlformats.org/drawingml/2006/main"/>
        </p:blipFill>
        <p:spPr>
          <a:xfrm xmlns:a="http://schemas.openxmlformats.org/drawingml/2006/main">
            <a:off x="1355271" y="3448050"/>
            <a:ext cx="5747657" cy="25146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86C31-F89A-49C3-902A-D9BE41AA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34480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2469C1-F6A2-499F-A531-412D7F33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95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案例重點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1DFFB1-40B7-42A7-A5C4-F5950A8B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27241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正式版沒有固定 +20% 就先賣的停利。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只要趨勢沒壞，就讓獲利續跑。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真正的停利，來自防守線抬高後的結構轉弱退出。</a:t>
            </a:r>
          </a:p>
        </p:txBody>
      </p:sp>
    </p:spTree>
    <p:extLst>
      <p:ext uri="{BB962C8B-B14F-4D97-AF65-F5344CB8AC3E}">
        <p14:creationId xmlns:p14="http://schemas.microsoft.com/office/powerpoint/2010/main" val="8004416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E2285A-CC06-4B60-AC1F-87C7B7DB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總結：MWP-C 適合什麼投資思維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22C22-3D97-4819-9AA2-23BB5121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865FA-B410-43BC-982D-7953B9DF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Takeaways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2AE2A-D402-4718-9F3C-117472EE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2578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25210-7AA6-4E23-973B-7FBBE8F3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85900"/>
            <a:ext cx="52578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A9ADC-7CBC-4E91-B724-521B8A19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適合的人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07586-B511-4DA9-A532-FCB0D91B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願意接受勝率不是最漂亮，但想抓中大型波段的人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願意用紀律換報酬分布，而不是每天都要有很多單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能接受某些單子先被洗掉，靠少數大波段拉回整體結果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D047F-40EA-4935-B1D0-BE87F1F9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71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不適合的人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61827-F428-440F-A005-CA5429D8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71700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偏好極高勝率短打的人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不喜歡部位經過較長整理與波動的人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無法接受策略『少做、做精準』節奏的人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725A4-CD46-41FB-A82F-FCDA9FDF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一句話總結：MWP-C 的重點不是猜最低點，而是用較好的風險位置，去參與強勢股真正有延續性的主升段。</a:t>
            </a:r>
          </a:p>
        </p:txBody>
      </p:sp>
    </p:spTree>
    <p:extLst>
      <p:ext uri="{BB962C8B-B14F-4D97-AF65-F5344CB8AC3E}">
        <p14:creationId xmlns:p14="http://schemas.microsoft.com/office/powerpoint/2010/main" val="1889894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2026-06-29T14:06:13.4140000Z</dcterms:created>
  <dcterms:modified xsi:type="dcterms:W3CDTF">2026-06-29T14:06:13.4140000Z</dcterms:modified>
</coreProperties>
</file>